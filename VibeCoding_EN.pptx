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-164592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7C3AED">
              <a:alpha val="16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00D4FF">
              <a:alpha val="7000"/>
            </a:srgbClr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188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 ·  5 DAYS  ·  15 MODULES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Artificial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594360" y="3566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From Prompt to Product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76272" y="4462272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4462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95344" y="4462272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95344" y="4462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GitFlow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14416" y="4462272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4462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33488" y="4462272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44622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· 15 Modules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65760" y="1417320"/>
            <a:ext cx="1600200" cy="3383280"/>
          </a:xfrm>
          <a:prstGeom prst="rect">
            <a:avLst/>
          </a:prstGeom>
          <a:solidFill>
            <a:srgbClr val="111827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41732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6576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" y="2304288"/>
            <a:ext cx="1261872" cy="0"/>
          </a:xfrm>
          <a:prstGeom prst="line">
            <a:avLst/>
          </a:prstGeom>
          <a:noFill/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Intro AI-driven dev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953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Windsurf IDE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project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03120" y="1417320"/>
            <a:ext cx="1600200" cy="338328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03120" y="141732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10312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67712" y="2304288"/>
            <a:ext cx="1261872" cy="0"/>
          </a:xfrm>
          <a:prstGeom prst="line">
            <a:avLst/>
          </a:prstGeom>
          <a:noFill/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 for AI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94560" y="2953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GitFlow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94560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Deploy with AI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1417320"/>
            <a:ext cx="1600200" cy="338328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0" y="1417320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384048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05072" y="2304288"/>
            <a:ext cx="1261872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Stack &amp; architecture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31920" y="2953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as developer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931920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Chain-of-thought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77840" y="1417320"/>
            <a:ext cx="1600200" cy="338328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77840" y="141732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557784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42432" y="2304288"/>
            <a:ext cx="1261872" cy="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 environment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669280" y="2953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sources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69280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Context injection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15200" y="1417320"/>
            <a:ext cx="1600200" cy="338328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315200" y="1417320"/>
            <a:ext cx="1600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731520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79792" y="2304288"/>
            <a:ext cx="1261872" cy="0"/>
          </a:xfrm>
          <a:prstGeom prst="line">
            <a:avLst/>
          </a:prstGeom>
          <a:noFill/>
          <a:ln w="63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Docs as context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406640" y="2953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Screenshots &amp; UI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406640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Advanced problem solving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INTRODUCTION TO AI-ASSISTED DEVELOPMENT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AI-Driven Development?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no longer written line by line — it's described, iterated and validated. AI acts as the developer's technical co-author.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1783080"/>
            <a:ext cx="20116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178308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74520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1148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(Autocomplete)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11480" y="2807208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code in real time as you type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context of the open file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GitHub Copilot, Tabnine, Codeium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latency, lower autonomy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468880" y="1783080"/>
            <a:ext cx="20116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1783080"/>
            <a:ext cx="2011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874520"/>
            <a:ext cx="457200" cy="4572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56032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2560320" y="2807208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complete tasks without constant supervision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read, create and modify files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tool calls (terminal, web)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Cascade in Windsurf, Devin, Aider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617720" y="1783080"/>
            <a:ext cx="20116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617720" y="1783080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874520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70916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Coding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4709160" y="2807208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 natural language + code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validates and pastes the result manually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exploration and learning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Claude.ai, ChatGPT, Gemini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766560" y="1783080"/>
            <a:ext cx="20116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766560" y="178308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874520"/>
            <a:ext cx="457200" cy="4572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85800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858000" y="2807208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Hallucinations: plausible but incorrect code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forgets the start of the repo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risks: credentials, injections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without critical review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WINDSURF IDE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Windsurf: The IDE that reasons about your codebase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 doesn't just complete code — it understands the whole project, runs commands and makes architecture decisions.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1783080"/>
            <a:ext cx="3840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178308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1856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 / GPT-4o)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2112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245973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▲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2560320"/>
            <a:ext cx="3840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256032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633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Agent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28895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tools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323697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▲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337560"/>
            <a:ext cx="3840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33756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context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3666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deps, history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83080" y="401421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▲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4114800"/>
            <a:ext cx="3840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411480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187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(Editor)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4443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terminal, extensions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1783080"/>
            <a:ext cx="4114800" cy="960120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Context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54880" y="2112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repository, not just the active file. Understands imports, dependencies and patterns.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7720" y="2862072"/>
            <a:ext cx="4114800" cy="960120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54880" y="2935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Actions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31912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npm install, git, curl… without leaving the IDE. The agent closes the feedback loop.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17720" y="3941064"/>
            <a:ext cx="4114800" cy="960120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54880" y="4014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54880" y="4270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REST APIs, large-scale refactors, test generation, PR reviews.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FIRST PROJECT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working project in one session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920240" y="1810512"/>
            <a:ext cx="10972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9384" y="169164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1463040"/>
            <a:ext cx="160020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1463040"/>
            <a:ext cx="1600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93192" y="2029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235915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Windsurf, configure model (Claude Sonnet), connect your workspace.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0168" y="1810512"/>
            <a:ext cx="10972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169164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29968" y="1463040"/>
            <a:ext cx="160020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29968" y="1463040"/>
            <a:ext cx="1600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103120" y="2029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03120" y="235915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AI: 'Create a Node/FastAPI project with Clean Architecture structure.'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0096" y="1810512"/>
            <a:ext cx="10972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169164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39896" y="1463040"/>
            <a:ext cx="160020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39896" y="1463040"/>
            <a:ext cx="1600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9896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813048" y="2029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13048" y="235915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the README: description, setup instructions, environment variables.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50024" y="1810512"/>
            <a:ext cx="10972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169164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→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9824" y="1463040"/>
            <a:ext cx="160020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49824" y="1463040"/>
            <a:ext cx="1600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9824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5522976" y="2029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code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22976" y="235915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routes, models, services. You review the logic and the API contract.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59752" y="1463040"/>
            <a:ext cx="160020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59752" y="1463040"/>
            <a:ext cx="1600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59752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232904" y="2029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32904" y="235915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/src /tests /docs. .env.example. .gitignore. Pre-commit hooks.</a:t>
            </a:r>
            <a:endParaRPr lang="en-US" sz="9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526280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572000" y="4572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start with an architecture prompt before asking for code. It changes everything.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GIT IN AI-DRIVEN PROJECTS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when 80% of the code is written by AI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code fast — without commit discipline, history becomes unmanageable. Git is still your safety net.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508760"/>
            <a:ext cx="594360" cy="59436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2788920" cy="301752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54864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8056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AI-oriented Git basics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8056" y="2221992"/>
            <a:ext cx="258775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before every commit: review what the AI generated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commits: one concept per commit, not 'AI session dump'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stash to pause changes while exploring alternatives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bisect to find which generation broke something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46120" y="1783080"/>
            <a:ext cx="2788920" cy="3017520"/>
          </a:xfrm>
          <a:prstGeom prst="rect">
            <a:avLst/>
          </a:prstGeom>
          <a:solidFill>
            <a:srgbClr val="111827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46120" y="1783080"/>
            <a:ext cx="54864" cy="3017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74136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generated code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374136" y="2221992"/>
            <a:ext cx="258775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without reading the full diff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.gitignore to exclude AI temporary files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working versions: git tag v0.1-working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prompt that triggered the change in the commit message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172200" y="1783080"/>
            <a:ext cx="2788920" cy="301752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72200" y="1783080"/>
            <a:ext cx="54864" cy="3017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0216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junk commits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00216" y="2221992"/>
            <a:ext cx="258775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before merge: consolidate vibe coding sessions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Commits: feat:, fix:, refactor:, chore: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hooks: linting and tests before committing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code review: human reviews what the AI generated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GITFLOW AND AI-ASSISTED DEPLOY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branching and AI-assisted continuous delivery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11480" y="1417320"/>
            <a:ext cx="1371600" cy="566928"/>
          </a:xfrm>
          <a:prstGeom prst="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417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83080" y="1700784"/>
            <a:ext cx="365760" cy="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1453896"/>
            <a:ext cx="653796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5361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releases only. AI never touches main directly.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240280"/>
            <a:ext cx="1371600" cy="566928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240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83080" y="2523744"/>
            <a:ext cx="3657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2276856"/>
            <a:ext cx="653796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35915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branch. AI proposes merges here.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063240"/>
            <a:ext cx="1371600" cy="566928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063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83080" y="3346704"/>
            <a:ext cx="3657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3099816"/>
            <a:ext cx="653796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318211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feature. AI works in its own feature branch.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858768"/>
            <a:ext cx="137160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858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783080" y="4142232"/>
            <a:ext cx="365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8840" y="3895344"/>
            <a:ext cx="653796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3977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branch from main. AI generates the fix, human approves.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645152"/>
            <a:ext cx="832104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CI/CD: ask Cascade to generate the GitHub Actions workflow, Dockerfile and deploy scripts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PROMPT ENGINEERING: STACK AND ARCHITECTURE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guide AI to use YOUR technology stack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context, AI picks the most popular stack on the internet. With the right prompt, it respects your technical decisions.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11480" y="1783080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" y="1783080"/>
            <a:ext cx="54864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1837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Prompt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6928" y="2093976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21122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Python 3.11 + FastAPI + SQLAlchemy + PostgreSQL. Do NOT use Django. Structure the project with Clean Architecture: domain, application, infrastructure, interfaces."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11480" y="2862072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11480" y="2862072"/>
            <a:ext cx="54864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2916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Prompt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6928" y="3172968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319125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"Design the layer diagram first before writing any code. Separate business logic from persistence. Services must not import ORM models directly."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3941064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11480" y="3941064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" y="3995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Patterns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66928" y="4251960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427024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"Apply DDD: entities, aggregates, value objects, repositories. Use domain events to communicate changes between bounded contexts."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AI AS JUNIOR DEVELOPER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programming: design before code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mistake: asking for code before agreeing on the design. AI is the best junior in the world if you know how to direct it.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4297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Design First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9768" y="2167128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class/sequence diagram before code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architecture with the team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ask for implementation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costly refactors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1783080"/>
            <a:ext cx="4297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64608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Tests First (TDD)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64608" y="2167128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unit tests before the code'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act as executable specification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implements to pass the tests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coverage from the start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3355848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355848"/>
            <a:ext cx="4297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9768" y="3429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Auto Documentation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9768" y="3739896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'Generate docstrings in Google/NumPy format'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OpenAPI spec, Mermaid diagrams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changelog from commits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always up to date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54880" y="3355848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3355848"/>
            <a:ext cx="4297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3429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Role Prompting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864608" y="3739896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Senior Architect: review this design'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 Security Expert: find vulnerabilities'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 QA Engineer: write the test cases'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perspective based on the goal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PROBLEM SOLVING WITH LOGICAL REASONING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debugging and refactoring</a:t>
            </a:r>
            <a:endParaRPr lang="en-US" sz="2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11480" y="1783080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1480" y="1783080"/>
            <a:ext cx="54864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18379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Debugging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" y="2093976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21214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"Analyze this error step by step. First identify the error type, then locate the origin line, then trace the execution flow to the failure point."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2880360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1480" y="2880360"/>
            <a:ext cx="54864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" y="2935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Refactoring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6928" y="3191256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32186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"Refactor this function. Explain each change you make and why it improves readability or performance."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11480" y="3977640"/>
            <a:ext cx="83210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11480" y="3977640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" y="4032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Bug Hunting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6928" y="4288536"/>
            <a:ext cx="804672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" y="43159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 as a QA expert. Review this code looking for: logic errors, uncovered edge cases, possible null pointers and race conditions."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" y="4645152"/>
            <a:ext cx="8321040" cy="329184"/>
          </a:xfrm>
          <a:prstGeom prst="rect">
            <a:avLst/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by asking for explicit reasoning, AI makes up to 40% fewer errors on complex problems.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DEVELOPMENT ENVIRONMENT WITH 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your workspace so AI understands everything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only as good as the context you give it. A well-documented environment multiplies the quality of responses.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4297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Configuration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9768" y="2167128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CONTEXT.md at the root: describe the project, stack and conventions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.windsurfrules for permanent agent 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key paths: src, tests, config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real code examples of the expected style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1783080"/>
            <a:ext cx="42976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64608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64608" y="2167128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.env.example with all vars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pass real API key values to AI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purpose of each variable in comments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direnv or dotenv for automatic local loading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3355848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355848"/>
            <a:ext cx="4297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9768" y="3429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9768" y="3739896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all local infrastructure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Makefiles with standard commands: make dev, make test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versions: requirements.txt, package-lock.json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devcontainer.json for identical team environments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54880" y="3355848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3355848"/>
            <a:ext cx="4297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3429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Environment to AI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864608" y="3739896"/>
            <a:ext cx="4096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session start: 'We are on Python 3.11, Docker, macOS ARM'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output of uname -a, python --version in context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limitations: no internet access, no sudo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its commands and paths to the real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CONNECTING AI TO DATA SOURCES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code over real data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queries, migrations and transformations — but it needs to know the exact schema of your data.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2788920" cy="3063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2788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185623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11480" y="2176272"/>
            <a:ext cx="26060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2194560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the full DDL: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users (id SERIAL, email VARCHAR, created_at TIMESTAMP);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11480" y="267004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schema with \d+ (psql) or SHOW CREATE TABLE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indexes and foreign keys — AI uses them for optimal queries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explained queries: 'generate and explain each join'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automatic Alembic / Flyway migrations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46120" y="1783080"/>
            <a:ext cx="2788920" cy="3063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246120" y="1783080"/>
            <a:ext cx="278892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37560" y="185623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337560" y="2176272"/>
            <a:ext cx="26060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10712" y="2194560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the OpenAPI spec or a real response example.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337560" y="267004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swagger.json or a response sample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 client, error handling and retry logic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strong typing (TypeScript types, Pydantic models)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rate limits and auth method in context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172200" y="1783080"/>
            <a:ext cx="2788920" cy="30632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172200" y="1783080"/>
            <a:ext cx="27889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63640" y="185623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and Data Warehouses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63640" y="2176272"/>
            <a:ext cx="26060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36792" y="2194560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a real example document from the collection.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263640" y="267004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MongoDB: pass a representative JSON doc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BigQuery/Snowflake: share the table schema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appropriate indexes and partitioning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schema validation if there is no native typing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CONTEXT INJECTION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exactly the information it needs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hidden superpower of vibe coding. The more precise it is, the more useful the response — with no hallucinations.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4297680" cy="54864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" y="1837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DB Schema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965960" y="18562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DDL, relationships and sample data for precise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20040" y="2404872"/>
            <a:ext cx="4297680" cy="54864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" y="2404872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" y="2459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CSV / Excel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965960" y="2478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rows + column types. AI infers the transformations.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026664"/>
            <a:ext cx="4297680" cy="54864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026664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6344" y="3081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JSON / Logs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965960" y="3099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structure or a real error log. Exact bug location.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3648456"/>
            <a:ext cx="4297680" cy="54864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0040" y="3648456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6344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Legacy code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965960" y="3721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file or the relevant fragment. Ask it to respect the style.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270248"/>
            <a:ext cx="4297680" cy="548640"/>
          </a:xfrm>
          <a:prstGeom prst="rect">
            <a:avLst/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20040" y="4270248"/>
            <a:ext cx="54864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6344" y="4325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Specs / RFCs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96596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in text. AI converts them into user stories and code.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937760" y="1783080"/>
            <a:ext cx="374904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07492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Techniques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074920" y="219456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files into logical sections: models, services, routes.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only the context relevant to the problem — not the whole repo.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header comments: // File: src/services/user.service.ts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repos: generate an ARCHITECTURE.md and pass it first.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~200K tokens in Claude 3.5 — use them wisely.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most recent code and the error stack trace.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FILES AND DOCUMENTATION AS CONTEXT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document to working code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technical specs and RFCs are the language of business. AI translates them directly into code — if you know how to ask.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2743200" cy="306324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2743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3192" y="1856232"/>
            <a:ext cx="749808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3192" y="1856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11480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document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11480" y="253288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PDF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RFC (e.g. RFC 7519 JWT)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spec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 manual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081528" y="32004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3246120" y="1783080"/>
            <a:ext cx="2743200" cy="306324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46120" y="178308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19272" y="1856232"/>
            <a:ext cx="749808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19272" y="1856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337560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analysis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337560" y="253288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 all functional requirements'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'Identify entities and their relationships'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'Detect ambiguities and ask'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'Summarize as BDD user stories'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007608" y="32004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172200" y="1783080"/>
            <a:ext cx="2743200" cy="306324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172200" y="178308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45352" y="1856232"/>
            <a:ext cx="749808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45352" y="1856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263640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automatically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263640" y="253288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implements the requirements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verify each user story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architecture diagram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technical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SCREENSHOTS AND WEB CONTEXT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sees what you see — and can replicate it in code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understand images of interfaces, visual errors and designs — opening a completely new workflow.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42976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42976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1856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UI Screenshots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9768" y="213055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Figma screenshot or the existing app. AI generates the corresponding HTML/CSS/React with high visual fidelity.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29768" y="2569464"/>
            <a:ext cx="4078224" cy="475488"/>
          </a:xfrm>
          <a:prstGeom prst="rect">
            <a:avLst/>
          </a:prstGeom>
          <a:solidFill>
            <a:srgbClr val="0A0E1A"/>
          </a:solidFill>
          <a:ln w="63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5877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"Replicate this design in React with Tailwind. Respect spacing and colour palette."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4880" y="1783080"/>
            <a:ext cx="42976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1783080"/>
            <a:ext cx="4297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64608" y="1856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Visual Bugs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64608" y="213055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bug as it appears in the browser. AI identifies the affected element and proposes the CSS or logic fix.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64608" y="2569464"/>
            <a:ext cx="4078224" cy="475488"/>
          </a:xfrm>
          <a:prstGeom prst="rect">
            <a:avLst/>
          </a:prstGeom>
          <a:solidFill>
            <a:srgbClr val="0A0E1A"/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37760" y="25877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component overflows on mobile. Identify the problem and fix it."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0040" y="3337560"/>
            <a:ext cx="42976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0040" y="3337560"/>
            <a:ext cx="4297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9768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UI Reverse Engineering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29768" y="368503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existing web or mobile app, AI deduces the component structure and the likely code.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29768" y="4123944"/>
            <a:ext cx="4078224" cy="475488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" y="41422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"Analyze this interface and generate the React components needed to replicate it."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754880" y="3337560"/>
            <a:ext cx="42976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754880" y="3337560"/>
            <a:ext cx="4297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64608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Assisted Web Scraping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864608" y="368503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URL or page HTML. AI generates the scraper with precise selectors, pagination handling and export.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864608" y="4123944"/>
            <a:ext cx="4078224" cy="475488"/>
          </a:xfrm>
          <a:prstGeom prst="rect">
            <a:avLst/>
          </a:prstGeom>
          <a:solidFill>
            <a:srgbClr val="0A0E1A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937760" y="41422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a Python/BeautifulSoup scraper to extract the products from this page."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— ADVANCED PROBLEM SOLVING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technical architect of complete solutions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level of vibe coding: not just generating code, but designing end-to-end solutions with trade-off analysis.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68580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1783080"/>
            <a:ext cx="42976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1856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 Design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29768" y="214884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presents options with pros/cons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optimal one with justification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code for the chosen solution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migration plan for existing systems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54880" y="178308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1783080"/>
            <a:ext cx="4297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64608" y="1856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Analysis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64608" y="214884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comparison tables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by dimension: CAP theorem, cost, DX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 with technical reasoning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future growth scenarios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3756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337560"/>
            <a:ext cx="4297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9768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29768" y="370332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query analysis, missing indexes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strategies (Redis, CDN, HTTP cache)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profiling: interpret flamegraphs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optimization with Big-O analysis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54880" y="3337560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3337560"/>
            <a:ext cx="4297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with AI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864608" y="370332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CSRF detection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review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code, vulnerable dependencies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proposals with corrected code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TOOL ECOSYSTEM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IDE, Agent and Model: three distinct layers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545336" y="1207008"/>
            <a:ext cx="2331720" cy="566928"/>
          </a:xfrm>
          <a:prstGeom prst="rect">
            <a:avLst/>
          </a:prstGeom>
          <a:solidFill>
            <a:srgbClr val="00D4FF">
              <a:alpha val="9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45336" y="1252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45336" y="1545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18488" y="1810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terminal and UI where the dev interacts with the agent.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995928" y="1207008"/>
            <a:ext cx="2331720" cy="566928"/>
          </a:xfrm>
          <a:prstGeom prst="rect">
            <a:avLst/>
          </a:prstGeom>
          <a:solidFill>
            <a:srgbClr val="7C3AED">
              <a:alpha val="9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95928" y="1252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95928" y="1545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orchestrator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69080" y="1810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actions, reads files and calls the model in a loop.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46520" y="1207008"/>
            <a:ext cx="2331720" cy="566928"/>
          </a:xfrm>
          <a:prstGeom prst="rect">
            <a:avLst/>
          </a:prstGeom>
          <a:solidFill>
            <a:srgbClr val="10B981">
              <a:alpha val="9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1252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1545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19672" y="1810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code and reasoning. Executes nothing on its own.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7472" y="2029968"/>
            <a:ext cx="1078992" cy="960120"/>
          </a:xfrm>
          <a:prstGeom prst="rect">
            <a:avLst/>
          </a:prstGeom>
          <a:solidFill>
            <a:srgbClr val="00D4FF">
              <a:alpha val="12000"/>
            </a:srgbClr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7472" y="234543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 stack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45336" y="202996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45336" y="2029968"/>
            <a:ext cx="23317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36776" y="23271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877056" y="234543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995928" y="202996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995928" y="2029968"/>
            <a:ext cx="23317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87368" y="23271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327648" y="234543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202996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029968"/>
            <a:ext cx="23317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3271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47472" y="3127248"/>
            <a:ext cx="1078992" cy="960120"/>
          </a:xfrm>
          <a:prstGeom prst="rect">
            <a:avLst/>
          </a:prstGeom>
          <a:solidFill>
            <a:srgbClr val="F59E0B">
              <a:alpha val="12000"/>
            </a:srgbClr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7472" y="344271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stack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545336" y="312724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545336" y="3127248"/>
            <a:ext cx="23317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36776" y="34244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3877056" y="344271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995928" y="312724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995928" y="3127248"/>
            <a:ext cx="233172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87368" y="34244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Agent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327648" y="344271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46520" y="312724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46520" y="3127248"/>
            <a:ext cx="23317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34244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47472" y="4224528"/>
            <a:ext cx="1078992" cy="960120"/>
          </a:xfrm>
          <a:prstGeom prst="rect">
            <a:avLst/>
          </a:prstGeom>
          <a:solidFill>
            <a:srgbClr val="6E40C9">
              <a:alpha val="12000"/>
            </a:srgbClr>
          </a:solidFill>
          <a:ln w="15240">
            <a:solidFill>
              <a:srgbClr val="6E4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47472" y="453999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stack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545336" y="422452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545336" y="4224528"/>
            <a:ext cx="233172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36776" y="45217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3877056" y="453999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995928" y="422452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995928" y="4224528"/>
            <a:ext cx="2331720" cy="64008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87368" y="45217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6327648" y="4539996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46520" y="4224528"/>
            <a:ext cx="23317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74A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446520" y="4224528"/>
            <a:ext cx="2331720" cy="64008"/>
          </a:xfrm>
          <a:prstGeom prst="rect">
            <a:avLst/>
          </a:prstGeom>
          <a:solidFill>
            <a:srgbClr val="74AA9C"/>
          </a:solidFill>
          <a:ln w="12700">
            <a:solidFill>
              <a:srgbClr val="74AA9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45217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Sonnet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92861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= where you work  ·  Agent = who acts  ·  Model = who reasons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371600"/>
            <a:ext cx="3200400" cy="3200400"/>
          </a:xfrm>
          <a:prstGeom prst="ellipse">
            <a:avLst/>
          </a:prstGeom>
          <a:solidFill>
            <a:srgbClr val="7C3AED">
              <a:alpha val="13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280160"/>
            <a:ext cx="54864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280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COURSE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16002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of the future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 in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with AI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594360" y="3730752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712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replace the developer — it amplifies their capacity 10x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3986784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9684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new fundamental technical competency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242816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224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tests and architecture remain just as critical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4498848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4805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of generated code is non-negotiable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18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Programming with AI  ·  5 Days · 15 Modules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Programming – Vibe Coding</dc:title>
  <dc:subject>PptxGenJS Presentation</dc:subject>
  <dc:creator>PptxGenJS</dc:creator>
  <cp:lastModifiedBy>PptxGenJS</cp:lastModifiedBy>
  <cp:revision>1</cp:revision>
  <dcterms:created xsi:type="dcterms:W3CDTF">2026-03-07T12:51:12Z</dcterms:created>
  <dcterms:modified xsi:type="dcterms:W3CDTF">2026-03-07T12:51:12Z</dcterms:modified>
</cp:coreProperties>
</file>